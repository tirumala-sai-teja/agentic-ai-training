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44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7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8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4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842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410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975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864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69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950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644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990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044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035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42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81E55-C22F-E74A-9802-BA946102FD3B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290E5-614B-1146-8146-B9FBB15CD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31519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 &amp; Desist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487973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350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multi-agent automation with LangGraph + Groq + Arize Phoenix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009208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1B2D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092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3009208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1B2D5C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30092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9624" y="3009208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1B2D5C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30092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68696" y="3009208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1B2D5C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8696" y="30092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87768" y="3009208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1B2D5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30092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57848"/>
            <a:ext cx="1965960" cy="868680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5761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" y="3969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3557848"/>
            <a:ext cx="1965960" cy="868680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06040" y="35761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606040" y="3969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57848"/>
            <a:ext cx="1965960" cy="868680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5761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800600" y="3969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3557848"/>
            <a:ext cx="1965960" cy="868680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357613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995160" y="3969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Agentic AI Training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with Full Observability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23698" y="1170432"/>
            <a:ext cx="7639400" cy="488788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857" y="1243584"/>
            <a:ext cx="658569" cy="375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6929" y="1225296"/>
            <a:ext cx="3292845" cy="21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6930" y="1463040"/>
            <a:ext cx="6322262" cy="1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specialised agents, each with one responsibility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698" y="1865376"/>
            <a:ext cx="7639400" cy="488788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857" y="1938528"/>
            <a:ext cx="658569" cy="375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6929" y="1920240"/>
            <a:ext cx="3292845" cy="21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Extraction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6930" y="2157984"/>
            <a:ext cx="6322262" cy="1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image → Groq vision, works on scanned docs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3698" y="2560320"/>
            <a:ext cx="7639400" cy="488788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857" y="2633472"/>
            <a:ext cx="658569" cy="375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6929" y="2615184"/>
            <a:ext cx="3292845" cy="21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6930" y="2852928"/>
            <a:ext cx="6322262" cy="1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Checklist-based 0–100 for all classification types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698" y="3255264"/>
            <a:ext cx="7639400" cy="488788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857" y="3328416"/>
            <a:ext cx="658569" cy="375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6929" y="3310128"/>
            <a:ext cx="3292845" cy="21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6930" y="3547872"/>
            <a:ext cx="6322262" cy="1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review modal for uncertain documents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3698" y="3950208"/>
            <a:ext cx="7639400" cy="488788"/>
          </a:xfrm>
          <a:prstGeom prst="rect">
            <a:avLst/>
          </a:prstGeom>
          <a:solidFill>
            <a:srgbClr val="1B2D5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857" y="4023360"/>
            <a:ext cx="658569" cy="375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6929" y="4005072"/>
            <a:ext cx="3292845" cy="21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Tracing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6930" y="4242816"/>
            <a:ext cx="6322262" cy="187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traced — latency, tokens, scores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Pipeline + Observability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148840" cy="530352"/>
          </a:xfrm>
          <a:prstGeom prst="rect">
            <a:avLst/>
          </a:prstGeom>
          <a:solidFill>
            <a:srgbClr val="1B2D5C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4572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133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353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755648"/>
            <a:ext cx="2148840" cy="530352"/>
          </a:xfrm>
          <a:prstGeom prst="rect">
            <a:avLst/>
          </a:prstGeom>
          <a:solidFill>
            <a:srgbClr val="1B2D5C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755648"/>
            <a:ext cx="45720" cy="53035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810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2029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2322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432304"/>
            <a:ext cx="2148840" cy="530352"/>
          </a:xfrm>
          <a:prstGeom prst="rect">
            <a:avLst/>
          </a:prstGeom>
          <a:solidFill>
            <a:srgbClr val="1B2D5C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32304"/>
            <a:ext cx="4572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4871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" y="2706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" y="2999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108960"/>
            <a:ext cx="2148840" cy="530352"/>
          </a:xfrm>
          <a:prstGeom prst="rect">
            <a:avLst/>
          </a:prstGeom>
          <a:solidFill>
            <a:srgbClr val="1B2D5C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108960"/>
            <a:ext cx="45720" cy="5303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163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+ score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749040"/>
            <a:ext cx="2084832" cy="256032"/>
          </a:xfrm>
          <a:prstGeom prst="rect">
            <a:avLst/>
          </a:prstGeom>
          <a:solidFill>
            <a:srgbClr val="162447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490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auto  /  &lt;95% → HITL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1115568"/>
            <a:ext cx="2286000" cy="603504"/>
          </a:xfrm>
          <a:prstGeom prst="rect">
            <a:avLst/>
          </a:prstGeom>
          <a:solidFill>
            <a:srgbClr val="1B2D5C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0" y="1115568"/>
            <a:ext cx="45720" cy="60350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2907792" y="1179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07792" y="1444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1901952"/>
            <a:ext cx="2286000" cy="603504"/>
          </a:xfrm>
          <a:prstGeom prst="rect">
            <a:avLst/>
          </a:prstGeom>
          <a:solidFill>
            <a:srgbClr val="1B2D5C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0" y="1901952"/>
            <a:ext cx="45720" cy="60350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2" name="Text 30"/>
          <p:cNvSpPr/>
          <p:nvPr/>
        </p:nvSpPr>
        <p:spPr>
          <a:xfrm>
            <a:off x="2907792" y="1965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07792" y="2231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2688336"/>
            <a:ext cx="2286000" cy="603504"/>
          </a:xfrm>
          <a:prstGeom prst="rect">
            <a:avLst/>
          </a:prstGeom>
          <a:solidFill>
            <a:srgbClr val="1B2D5C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0" y="2688336"/>
            <a:ext cx="45720" cy="603504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6" name="Text 34"/>
          <p:cNvSpPr/>
          <p:nvPr/>
        </p:nvSpPr>
        <p:spPr>
          <a:xfrm>
            <a:off x="2907792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07792" y="3017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modal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0" y="3474720"/>
            <a:ext cx="2286000" cy="603504"/>
          </a:xfrm>
          <a:prstGeom prst="rect">
            <a:avLst/>
          </a:prstGeom>
          <a:solidFill>
            <a:srgbClr val="1B2D5C"/>
          </a:solidFill>
          <a:ln w="19050">
            <a:solidFill>
              <a:srgbClr val="8FA3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0" y="3474720"/>
            <a:ext cx="45720" cy="603504"/>
          </a:xfrm>
          <a:prstGeom prst="rect">
            <a:avLst/>
          </a:prstGeom>
          <a:solidFill>
            <a:srgbClr val="8FA3C8"/>
          </a:solidFill>
          <a:ln/>
        </p:spPr>
      </p:sp>
      <p:sp>
        <p:nvSpPr>
          <p:cNvPr id="40" name="Text 38"/>
          <p:cNvSpPr/>
          <p:nvPr/>
        </p:nvSpPr>
        <p:spPr>
          <a:xfrm>
            <a:off x="2907792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07792" y="38039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trail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1417320"/>
            <a:ext cx="36576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1325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D6A0"/>
                </a:solidFill>
              </a:rPr>
              <a:t>▶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77440" y="2203704"/>
            <a:ext cx="365760" cy="0"/>
          </a:xfrm>
          <a:prstGeom prst="line">
            <a:avLst/>
          </a:prstGeom>
          <a:noFill/>
          <a:ln w="1905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76F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77440" y="2990088"/>
            <a:ext cx="365760" cy="0"/>
          </a:xfrm>
          <a:prstGeom prst="line">
            <a:avLst/>
          </a:prstGeom>
          <a:noFill/>
          <a:ln w="19050">
            <a:solidFill>
              <a:srgbClr val="9B5D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28986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5DE5"/>
                </a:solidFill>
              </a:rPr>
              <a:t>▶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94960" y="1005840"/>
            <a:ext cx="3429000" cy="3063240"/>
          </a:xfrm>
          <a:prstGeom prst="rect">
            <a:avLst/>
          </a:prstGeom>
          <a:solidFill>
            <a:srgbClr val="162447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394960" y="1005840"/>
            <a:ext cx="342900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0" name="Text 48"/>
          <p:cNvSpPr/>
          <p:nvPr/>
        </p:nvSpPr>
        <p:spPr>
          <a:xfrm>
            <a:off x="5413248" y="1005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ARIZE PHOENIX OBSERVABILITY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961888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Latency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61888" y="16824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response time tracking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77840" y="1929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961888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61888" y="21122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tokens per Groq call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77840" y="2359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961888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61888" y="2542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for every document classified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778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961888" y="2788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Traces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61888" y="29718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span tree — memory → audit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778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961888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961888" y="34015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~/.phoenix/ — no cloud needed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57784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961888" y="3648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UI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961888" y="383133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http://localhost:6006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029200" y="2514600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5230368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▶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828032" y="2340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73" name="Text 7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Agent Does + What Gets Traced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05840"/>
            <a:ext cx="457200" cy="859536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005840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1078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1335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audit_log.jsonl — detects duplicates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9536" y="1572768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9105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document.name, memory.duplicate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1975104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975104"/>
            <a:ext cx="457200" cy="8595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975104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PNG 150dpi → Groq vision → extracted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" y="2542032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60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document.extracted_chars, document.path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" y="2944368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944368"/>
            <a:ext cx="457200" cy="8595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944368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3017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classifies + confidence score all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" y="3511296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29584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classification.result, confidence, reason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2608" y="3913632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2608" y="3913632"/>
            <a:ext cx="457200" cy="85953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3913632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" y="39867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Agent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" y="4242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cease requests into SQLite with confidence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9536" y="4480560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9884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sender.name, cease.activity, confidence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64608" y="1005840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1005840"/>
            <a:ext cx="457200" cy="85953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1005840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31536" y="1078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Agent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31536" y="1335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irrelevant docs to flat file with reason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31536" y="1572768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159105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irrelevant.reason, confidence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64608" y="1975104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64608" y="1975104"/>
            <a:ext cx="457200" cy="859536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1975104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31536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Agent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31536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 uncertain docs — web UI modal for human review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31536" y="2542032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2560320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hitl.mode, suggested, human_decision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64608" y="2944368"/>
            <a:ext cx="4160520" cy="859536"/>
          </a:xfrm>
          <a:prstGeom prst="rect">
            <a:avLst/>
          </a:prstGeom>
          <a:solidFill>
            <a:srgbClr val="1B2D5C"/>
          </a:solidFill>
          <a:ln w="12700">
            <a:solidFill>
              <a:srgbClr val="8FA3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64608" y="2944368"/>
            <a:ext cx="457200" cy="859536"/>
          </a:xfrm>
          <a:prstGeom prst="rect">
            <a:avLst/>
          </a:prstGeom>
          <a:solidFill>
            <a:srgbClr val="8FA3C8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2944368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31536" y="30175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31536" y="32735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last — writes JSONL compliance entry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31536" y="3511296"/>
            <a:ext cx="3474720" cy="201168"/>
          </a:xfrm>
          <a:prstGeom prst="rect">
            <a:avLst/>
          </a:prstGeom>
          <a:solidFill>
            <a:srgbClr val="0F1C3F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3529584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classification.final, reviewed_by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55" name="Text 5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— Full LLM Tracing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58368"/>
          </a:xfrm>
          <a:prstGeom prst="rect">
            <a:avLst/>
          </a:prstGeom>
          <a:solidFill>
            <a:srgbClr val="1B2D5C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54864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60704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is an open-source LLM observability platform. It traces every agent call, records token usage, measures latency, and stores confidence scores — all locally on your machine at http://localhost:6006.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TRACED PER DOCUMENT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document.name  ·  memory.duplicate  ·  memory.previous_class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962656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document.path  ·  document.extracted_chars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767328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22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classification.result  ·  classification.confidence  ·  classification.reason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157984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Database/Archive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sender.name  ·  cease.activity  ·  irrelevant.reason  ·  action.result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962656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73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hitl.mode  ·  classification.suggested  ·  hitl.human_decision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767328"/>
            <a:ext cx="4114800" cy="713232"/>
          </a:xfrm>
          <a:prstGeom prst="rect">
            <a:avLst/>
          </a:prstGeom>
          <a:solidFill>
            <a:srgbClr val="1B2D5C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822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782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classification.final  ·  reviewed_by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503920" cy="292608"/>
          </a:xfrm>
          <a:prstGeom prst="rect">
            <a:avLst/>
          </a:prstGeom>
          <a:solidFill>
            <a:srgbClr val="16244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Setup:  pip install arize-phoenix arize-phoenix-otel   →   python -m phoenix.server.main   →   http://localhost:6006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3749040"/>
          </a:xfrm>
          <a:prstGeom prst="rect">
            <a:avLst/>
          </a:prstGeom>
          <a:solidFill>
            <a:srgbClr val="1B2D5C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69748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Orchestration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536192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state graph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304288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langchain-groq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" y="2633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integration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3072384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145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scoring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3840480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913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llama-4-scout-17b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4169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PDF extraction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1024128"/>
            <a:ext cx="2697480" cy="3749040"/>
          </a:xfrm>
          <a:prstGeom prst="rect">
            <a:avLst/>
          </a:prstGeom>
          <a:solidFill>
            <a:srgbClr val="1B2D5C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1024128"/>
            <a:ext cx="269748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3374136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Storage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74136" y="1536192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65576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file upload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74136" y="2304288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 mode)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65576" y="2633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 requests storage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74136" y="3072384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3145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65576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PNG rendering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74136" y="3840480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3913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audit log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65576" y="4169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trail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08776" y="1024128"/>
            <a:ext cx="2697480" cy="3749040"/>
          </a:xfrm>
          <a:prstGeom prst="rect">
            <a:avLst/>
          </a:prstGeom>
          <a:solidFill>
            <a:srgbClr val="1B2D5C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024128"/>
            <a:ext cx="269748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6318504" y="1024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18504" y="1536192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1609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9944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trace UI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18504" y="2304288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9944" y="2633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instrumentation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18504" y="3072384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9944" y="3145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9944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Groq traced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18504" y="3840480"/>
            <a:ext cx="2468880" cy="658368"/>
          </a:xfrm>
          <a:prstGeom prst="rect">
            <a:avLst/>
          </a:prstGeom>
          <a:solidFill>
            <a:srgbClr val="162447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3913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localhost:6006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9944" y="41696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dependency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Process → Review → Done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20240" cy="3200400"/>
          </a:xfrm>
          <a:prstGeom prst="rect">
            <a:avLst/>
          </a:prstGeom>
          <a:solidFill>
            <a:srgbClr val="1B2D5C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70432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118872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251460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multiple files.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automatic.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78992"/>
            <a:ext cx="1920240" cy="3200400"/>
          </a:xfrm>
          <a:prstGeom prst="rect">
            <a:avLst/>
          </a:prstGeom>
          <a:solidFill>
            <a:srgbClr val="1B2D5C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170432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2395728"/>
            <a:ext cx="1188720" cy="27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2578608" y="251460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vision extracts each page.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classifies + scores.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078992"/>
            <a:ext cx="1920240" cy="3200400"/>
          </a:xfrm>
          <a:prstGeom prst="rect">
            <a:avLst/>
          </a:prstGeom>
          <a:solidFill>
            <a:srgbClr val="1B2D5C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170432"/>
            <a:ext cx="731520" cy="7315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2395728"/>
            <a:ext cx="118872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251460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class, confidence bar,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details, reason.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080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1078992"/>
            <a:ext cx="1920240" cy="3200400"/>
          </a:xfrm>
          <a:prstGeom prst="rect">
            <a:avLst/>
          </a:prstGeom>
          <a:solidFill>
            <a:srgbClr val="1B2D5C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60920" y="1170432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76656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Review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32320" y="2395728"/>
            <a:ext cx="1188720" cy="27432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1" name="Text 29"/>
          <p:cNvSpPr/>
          <p:nvPr/>
        </p:nvSpPr>
        <p:spPr>
          <a:xfrm>
            <a:off x="6876288" y="251460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Modal: select class + enter reason.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resumes after submit.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solidFill>
            <a:srgbClr val="0F1C3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074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Every step above is traced in Arize Phoenix — open http://localhost:6006 to see full span trees per document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2651760" cy="201168"/>
          </a:xfrm>
          <a:prstGeom prst="rect">
            <a:avLst/>
          </a:prstGeom>
          <a:solidFill>
            <a:srgbClr val="1B2D5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Cease — stored in DB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4754880"/>
            <a:ext cx="2651760" cy="201168"/>
          </a:xfrm>
          <a:prstGeom prst="rect">
            <a:avLst/>
          </a:prstGeom>
          <a:solidFill>
            <a:srgbClr val="1B2D5C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Irrelevant — archived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4754880"/>
            <a:ext cx="2651760" cy="201168"/>
          </a:xfrm>
          <a:prstGeom prst="rect">
            <a:avLst/>
          </a:prstGeom>
          <a:solidFill>
            <a:srgbClr val="1B2D5C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Uncertain — HITL 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Compliance Outputs Generated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822960"/>
          </a:xfrm>
          <a:prstGeom prst="rect">
            <a:avLst/>
          </a:prstGeom>
          <a:solidFill>
            <a:srgbClr val="1B2D5C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4864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33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cease_desist.db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389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566160" cy="694944"/>
          </a:xfrm>
          <a:prstGeom prst="rect">
            <a:avLst/>
          </a:prstGeom>
          <a:solidFill>
            <a:srgbClr val="0F1C3F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1521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</a:t>
            </a:r>
            <a:r>
              <a:rPr lang="en-US" sz="9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cease_requests</a:t>
            </a: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8503920" cy="822960"/>
          </a:xfrm>
          <a:prstGeom prst="rect">
            <a:avLst/>
          </a:prstGeom>
          <a:solidFill>
            <a:srgbClr val="1B2D5C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93392"/>
            <a:ext cx="54864" cy="8229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irrelevant_documents.txt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359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Text Archive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066544"/>
            <a:ext cx="3566160" cy="694944"/>
          </a:xfrm>
          <a:prstGeom prst="rect">
            <a:avLst/>
          </a:prstGeom>
          <a:solidFill>
            <a:srgbClr val="0F1C3F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1214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2026-03-18 | invoice.pdf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91% | reason: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8503920" cy="822960"/>
          </a:xfrm>
          <a:prstGeom prst="rect">
            <a:avLst/>
          </a:prstGeom>
          <a:solidFill>
            <a:srgbClr val="1B2D5C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62656"/>
            <a:ext cx="54864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audit_log.jsonl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328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035808"/>
            <a:ext cx="3566160" cy="694944"/>
          </a:xfrm>
          <a:prstGeom prst="rect">
            <a:avLst/>
          </a:prstGeom>
          <a:solidFill>
            <a:srgbClr val="0F1C3F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0906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{"classification":"cease",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"confidence":92,"reviewed_by":"system"}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1B2D5C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31920"/>
            <a:ext cx="54864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15568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~/.phoenix/  (traces)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42976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Store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4005072"/>
            <a:ext cx="3566160" cy="694944"/>
          </a:xfrm>
          <a:prstGeom prst="rect">
            <a:avLst/>
          </a:prstGeom>
          <a:solidFill>
            <a:srgbClr val="0F1C3F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059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trees, token counts,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per agent — local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That's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43584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43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1579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1401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agents, single responsibility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32304" y="1115568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1243584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1243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32304" y="21579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Extract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241401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vision — scanned docs work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90288" y="1115568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8928" y="1243584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43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90288" y="21579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241401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for ALL classification types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48272" y="1115568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96912" y="1243584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2435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48272" y="21579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Web UI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8272" y="241401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Modal: class + reason fields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71216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2999232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9992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4320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Dedup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1696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prevents reprocessing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32304" y="2871216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80944" y="2999232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80944" y="29992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432304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32304" y="41696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many PDFs at once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90288" y="2871216"/>
            <a:ext cx="1938528" cy="1572768"/>
          </a:xfrm>
          <a:prstGeom prst="rect">
            <a:avLst/>
          </a:prstGeom>
          <a:solidFill>
            <a:srgbClr val="1B2D5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38928" y="2999232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29992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590288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90288" y="41696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for every document always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48272" y="2871216"/>
            <a:ext cx="1938528" cy="1572768"/>
          </a:xfrm>
          <a:prstGeom prst="rect">
            <a:avLst/>
          </a:prstGeom>
          <a:solidFill>
            <a:srgbClr val="1B2D5C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96912" y="2999232"/>
            <a:ext cx="841248" cy="841248"/>
          </a:xfrm>
          <a:prstGeom prst="ellipse">
            <a:avLst/>
          </a:prstGeom>
          <a:solidFill>
            <a:srgbClr val="0F1C3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96912" y="299923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48272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48272" y="41696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tracing — localhost:6006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C&amp;D Processor  · 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Cease &amp; Desist Document Processing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788920"/>
            <a:ext cx="6400800" cy="1874520"/>
          </a:xfrm>
          <a:prstGeom prst="rect">
            <a:avLst/>
          </a:prstGeom>
          <a:solidFill>
            <a:srgbClr val="1B2D5C"/>
          </a:solidFill>
          <a:ln w="635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87121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specialised agents with confidence-based routing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2186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Vision-based PDF extraction — works on scanned documents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Human-in-the-loop via React web interface with HITL modal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91363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compliance audit trail + duplicate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426110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Arize Phoenix observability — every LLM call traced locally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Agentic AI Training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054FF-2F41-DD40-101A-B88192A0597A}"/>
                  </a:ext>
                </a:extLst>
              </p:cNvPr>
              <p:cNvSpPr txBox="1"/>
              <p:nvPr/>
            </p:nvSpPr>
            <p:spPr>
              <a:xfrm>
                <a:off x="4942114" y="1736271"/>
                <a:ext cx="2006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C054FF-2F41-DD40-101A-B88192A05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114" y="1736271"/>
                <a:ext cx="2006960" cy="276999"/>
              </a:xfrm>
              <a:prstGeom prst="rect">
                <a:avLst/>
              </a:prstGeom>
              <a:blipFill>
                <a:blip r:embed="rId3"/>
                <a:stretch>
                  <a:fillRect l="-3774" t="-8696" r="-2516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1579</TotalTime>
  <Words>989</Words>
  <Application>Microsoft Macintosh PowerPoint</Application>
  <PresentationFormat>On-screen Show (16:9)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Cease &amp; Desist Document Processing System</dc:title>
  <dc:subject>PptxGenJS Presentation</dc:subject>
  <dc:creator>Capstone Project Team</dc:creator>
  <cp:lastModifiedBy>Microsoft Office User</cp:lastModifiedBy>
  <cp:revision>5</cp:revision>
  <dcterms:created xsi:type="dcterms:W3CDTF">2026-03-19T15:42:06Z</dcterms:created>
  <dcterms:modified xsi:type="dcterms:W3CDTF">2026-03-21T08:08:11Z</dcterms:modified>
</cp:coreProperties>
</file>